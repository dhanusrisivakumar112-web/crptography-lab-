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Inter Bold" panose="02000503000000020004" pitchFamily="34" charset="0"/>
      <p:bold r:id="rId17"/>
    </p:embeddedFont>
    <p:embeddedFont>
      <p:font typeface="Inter Bold" panose="02000503000000020004" pitchFamily="34" charset="-122"/>
      <p:bold r:id="rId18"/>
    </p:embeddedFont>
    <p:embeddedFont>
      <p:font typeface="Inter Bold" panose="02000503000000020004" pitchFamily="34" charset="-120"/>
      <p:bold r:id="rId19"/>
    </p:embeddedFont>
    <p:embeddedFont>
      <p:font typeface="Inter" panose="02000503000000020004" pitchFamily="34" charset="0"/>
      <p:regular r:id="rId20"/>
    </p:embeddedFont>
    <p:embeddedFont>
      <p:font typeface="Inter" panose="02000503000000020004" pitchFamily="34" charset="-122"/>
      <p:regular r:id="rId21"/>
    </p:embeddedFont>
    <p:embeddedFont>
      <p:font typeface="Inter" panose="02000503000000020004" pitchFamily="34" charset="-120"/>
      <p:regular r:id="rId22"/>
    </p:embeddedFont>
    <p:embeddedFont>
      <p:font typeface="Consolas" panose="020B0609020204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34" charset="-122"/>
      <p:regular r:id="rId27"/>
      <p:bold r:id="rId28"/>
      <p:italic r:id="rId29"/>
      <p:boldItalic r:id="rId30"/>
    </p:embeddedFont>
    <p:embeddedFont>
      <p:font typeface="Consolas" panose="020B0609020204030204" pitchFamily="34" charset="-120"/>
      <p:regular r:id="rId31"/>
      <p:bold r:id="rId32"/>
      <p:italic r:id="rId33"/>
      <p:boldItalic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22.fntdata"/><Relationship Id="rId37" Type="http://schemas.openxmlformats.org/officeDocument/2006/relationships/font" Target="fonts/font21.fntdata"/><Relationship Id="rId36" Type="http://schemas.openxmlformats.org/officeDocument/2006/relationships/font" Target="fonts/font20.fntdata"/><Relationship Id="rId35" Type="http://schemas.openxmlformats.org/officeDocument/2006/relationships/font" Target="fonts/font19.fntdata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89100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8085 Assembly: Division of Two 16-bit Numbers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87675"/>
            <a:ext cx="4722763" cy="10667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Presented by: S. Dhanusri, B.E. Computer Science — II Year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This concise lecture shows how to implement 16-bit integer division on the Intel 8085 using repeated subtraction. We'll cover registers, algorithm, flowchart, full code, explanation, and a worked example.</a:t>
            </a:r>
            <a:endParaRPr lang="en-US" sz="1100" dirty="0"/>
          </a:p>
        </p:txBody>
      </p:sp>
      <p:sp>
        <p:nvSpPr>
          <p:cNvPr id="5" name="Rectangle 4"/>
          <p:cNvSpPr/>
          <p:nvPr/>
        </p:nvSpPr>
        <p:spPr>
          <a:xfrm>
            <a:off x="3429000" y="4893310"/>
            <a:ext cx="5715000" cy="250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21197"/>
            <a:ext cx="4722763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What is 16-bit Division on 8085?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2288158"/>
            <a:ext cx="4722763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Division finds the quotient and remainder when one integer is divided by another. The 8085 CPU has no DIV instruction, so we implement division by repeated subtraction. Each 16-bit operand occupies two bytes (high and low). The program subtracts the divisor from the dividend repeatedly until the dividend is smaller than the divisor.</a:t>
            </a:r>
            <a:endParaRPr lang="en-US" sz="1100" dirty="0"/>
          </a:p>
        </p:txBody>
      </p:sp>
      <p:sp>
        <p:nvSpPr>
          <p:cNvPr id="5" name="Rectangle 4"/>
          <p:cNvSpPr/>
          <p:nvPr/>
        </p:nvSpPr>
        <p:spPr>
          <a:xfrm>
            <a:off x="3429000" y="4878070"/>
            <a:ext cx="5709920" cy="265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23541"/>
            <a:ext cx="4722763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Problem Statement — Aim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990502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Write an 8085 assembly program to divide two 16-bit numbers using repeated subtraction and produce: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2603599"/>
            <a:ext cx="4722763" cy="5031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Quotient (16-bit)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Remainder (16-bit)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266256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Inputs: Dividend (16-bit), Divisor (16-bit). Output: Quotient and Remainder stored in registers/memory.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13086"/>
            <a:ext cx="3053135" cy="1717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784994"/>
            <a:ext cx="4752677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Registers Used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899892" y="1298823"/>
            <a:ext cx="2305422" cy="1336700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6413" y="1445344"/>
            <a:ext cx="20123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HL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46413" y="1808559"/>
            <a:ext cx="2012379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H: high byte, L: low byte — stores the 16-bit Dividend (will be decremented)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47073" y="1298823"/>
            <a:ext cx="2305496" cy="1336700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3594" y="1445344"/>
            <a:ext cx="201245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3594" y="1808559"/>
            <a:ext cx="201245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D: high byte, E: low byte — stores the 16-bit Divisor (unchanged)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99892" y="2777282"/>
            <a:ext cx="2305422" cy="1563514"/>
          </a:xfrm>
          <a:prstGeom prst="roundRect">
            <a:avLst>
              <a:gd name="adj" fmla="val 38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6413" y="2923803"/>
            <a:ext cx="20123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BC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46413" y="3287018"/>
            <a:ext cx="2012379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Counts successful subtractions — used as the Quotient (16-bit)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47073" y="2777282"/>
            <a:ext cx="2305496" cy="1563514"/>
          </a:xfrm>
          <a:prstGeom prst="roundRect">
            <a:avLst>
              <a:gd name="adj" fmla="val 38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3594" y="2923803"/>
            <a:ext cx="201245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 &amp; Flags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93594" y="3287018"/>
            <a:ext cx="201245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Accumulator A for byte-wise compare/subtract; Carry (borrow) and Zero flags used for conditional decisions</a:t>
            </a:r>
            <a:endParaRPr lang="en-US" sz="1100" dirty="0"/>
          </a:p>
        </p:txBody>
      </p:sp>
      <p:sp>
        <p:nvSpPr>
          <p:cNvPr id="16" name="Rectangle 15"/>
          <p:cNvSpPr/>
          <p:nvPr/>
        </p:nvSpPr>
        <p:spPr>
          <a:xfrm>
            <a:off x="0" y="4764405"/>
            <a:ext cx="9144000" cy="3784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43670"/>
            <a:ext cx="4722763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Algorithm (High-level)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710630"/>
            <a:ext cx="4722763" cy="22891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Load 16-bit Dividend into HL and Divisor into DE.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Clear BC (Quotient = 0).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Compare HL with DE (compare high bytes first, then low bytes if needed).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If Dividend &lt; Divisor, stop — HL holds remainder, BC holds quotient.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Else: HL = HL - DE (16-bit subtraction), increment BC, repeat from step 3.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Store or present Quotient (BC) and Remainder (HL).</a:t>
            </a:r>
            <a:endParaRPr lang="en-US" sz="1100" dirty="0"/>
          </a:p>
        </p:txBody>
      </p:sp>
      <p:sp>
        <p:nvSpPr>
          <p:cNvPr id="5" name="Rectangle 4"/>
          <p:cNvSpPr/>
          <p:nvPr/>
        </p:nvSpPr>
        <p:spPr>
          <a:xfrm>
            <a:off x="3429000" y="4815840"/>
            <a:ext cx="5710555" cy="327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975" y="455563"/>
            <a:ext cx="8020050" cy="39425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86392" y="809508"/>
            <a:ext cx="1834120" cy="2292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Subtract &amp; Loop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486392" y="1103986"/>
            <a:ext cx="3708999" cy="169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Else HL−=DE, INX B, repeat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486392" y="1730644"/>
            <a:ext cx="1834120" cy="2292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Compare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486392" y="2025122"/>
            <a:ext cx="3708999" cy="169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If HL &lt; DE then store result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486392" y="2651779"/>
            <a:ext cx="1834120" cy="2292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Initialize Counter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86392" y="2946258"/>
            <a:ext cx="3708999" cy="169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Set BC = 0 for quotient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494543" y="3572916"/>
            <a:ext cx="1834120" cy="2292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Load Values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94543" y="3867394"/>
            <a:ext cx="3708999" cy="169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Load dividend into HL, divisor into DE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6119" y="4511576"/>
            <a:ext cx="860896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diagram shows the control flow: compare → conditional subtract → increment quotient counter → repeat until dividend smaller than divisor.</a:t>
            </a:r>
            <a:endParaRPr lang="en-US" sz="900" dirty="0"/>
          </a:p>
        </p:txBody>
      </p:sp>
      <p:sp>
        <p:nvSpPr>
          <p:cNvPr id="12" name="Rectangle 11"/>
          <p:cNvSpPr/>
          <p:nvPr/>
        </p:nvSpPr>
        <p:spPr>
          <a:xfrm>
            <a:off x="1905" y="4862195"/>
            <a:ext cx="9102725" cy="272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Complete Assembly Program (Repeated Subtraction)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96119" y="637877"/>
            <a:ext cx="8151763" cy="4451152"/>
          </a:xfrm>
          <a:prstGeom prst="roundRect">
            <a:avLst>
              <a:gd name="adj" fmla="val 669"/>
            </a:avLst>
          </a:prstGeom>
          <a:solidFill>
            <a:srgbClr val="F2F2F2"/>
          </a:solidFill>
        </p:spPr>
      </p:sp>
      <p:sp>
        <p:nvSpPr>
          <p:cNvPr id="4" name="Text 2"/>
          <p:cNvSpPr/>
          <p:nvPr/>
        </p:nvSpPr>
        <p:spPr>
          <a:xfrm>
            <a:off x="581174" y="708720"/>
            <a:ext cx="7981652" cy="43094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16-bit division on 8085 — Dividend in HL, Divisor in DE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Result: Quotient in BC, Remainder in HL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LXI H, 0020H    ; Example: load Dividend = 0020H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LXI D, 0005H    ; Example: load Divisor  = 0005H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LXI B, 0000H    ; Quotient = 0000H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LOOP: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MOV A, H        ; Compare high bytes first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CMP D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JC  DONE        ; If Carry=1 then HL &lt; DE → done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JZ   CHECK_LOW  ; If high bytes equal, compare low bytes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; If high byte greater, proceed to subtract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JMP  SUBTRACT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CHECK_LOW: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MOV A, L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CMP E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JC   DONE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; otherwise subtract (equal or greater)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SUBTRACT: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MOV A, L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SUB E           ; L = L - E (byte)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MOV L, A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MOV A, H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SBB D           ; H = H - D - borrow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MOV H, A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INX B           ; BC = BC + 1  (increment quotient)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JMP LOOP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DONE: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; At this point: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; HL = Remainder (16-bit), BC = Quotient (16-bit)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; Program can store HL and BC to memory or display as needed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HLT</a:t>
            </a:r>
            <a:endParaRPr lang="en-US" sz="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5128840"/>
            <a:ext cx="8608963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Place code in an 8085 assembler; comments clarify each step. Replace initial LXI values with runtime inputs as required.</a:t>
            </a:r>
            <a:endParaRPr lang="en-US" sz="550" dirty="0"/>
          </a:p>
        </p:txBody>
      </p:sp>
      <p:sp>
        <p:nvSpPr>
          <p:cNvPr id="6" name="Rectangle 5"/>
          <p:cNvSpPr/>
          <p:nvPr/>
        </p:nvSpPr>
        <p:spPr>
          <a:xfrm>
            <a:off x="8647430" y="4893310"/>
            <a:ext cx="457200" cy="1962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03859"/>
            <a:ext cx="3085579" cy="17356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312" y="530721"/>
            <a:ext cx="4774257" cy="2989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Code Explanation — Key Instructions</a:t>
            </a:r>
            <a:endParaRPr lang="en-US" sz="1850" dirty="0"/>
          </a:p>
        </p:txBody>
      </p:sp>
      <p:sp>
        <p:nvSpPr>
          <p:cNvPr id="4" name="Shape 1"/>
          <p:cNvSpPr/>
          <p:nvPr/>
        </p:nvSpPr>
        <p:spPr>
          <a:xfrm>
            <a:off x="3878312" y="1006748"/>
            <a:ext cx="59754" cy="59754"/>
          </a:xfrm>
          <a:prstGeom prst="ellipse">
            <a:avLst/>
          </a:prstGeom>
          <a:solidFill>
            <a:srgbClr val="4950BC"/>
          </a:solidFill>
        </p:spPr>
      </p:sp>
      <p:sp>
        <p:nvSpPr>
          <p:cNvPr id="5" name="Text 2"/>
          <p:cNvSpPr/>
          <p:nvPr/>
        </p:nvSpPr>
        <p:spPr>
          <a:xfrm>
            <a:off x="4038972" y="943198"/>
            <a:ext cx="4613597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LXI H, XXXX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38972" y="1230957"/>
            <a:ext cx="4613597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Loads 16-bit Dividend into HL pair (H = high, L = low).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878312" y="1672679"/>
            <a:ext cx="59754" cy="59754"/>
          </a:xfrm>
          <a:prstGeom prst="ellipse">
            <a:avLst/>
          </a:prstGeom>
          <a:solidFill>
            <a:srgbClr val="4950BC"/>
          </a:solidFill>
        </p:spPr>
      </p:sp>
      <p:sp>
        <p:nvSpPr>
          <p:cNvPr id="8" name="Text 5"/>
          <p:cNvSpPr/>
          <p:nvPr/>
        </p:nvSpPr>
        <p:spPr>
          <a:xfrm>
            <a:off x="4038972" y="1609130"/>
            <a:ext cx="4613597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LXI D, YYYY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38972" y="1896889"/>
            <a:ext cx="4613597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Loads 16-bit Divisor into DE pair (unchanged during loop).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78312" y="2338611"/>
            <a:ext cx="59754" cy="59754"/>
          </a:xfrm>
          <a:prstGeom prst="ellipse">
            <a:avLst/>
          </a:prstGeom>
          <a:solidFill>
            <a:srgbClr val="4950BC"/>
          </a:solidFill>
        </p:spPr>
      </p:sp>
      <p:sp>
        <p:nvSpPr>
          <p:cNvPr id="11" name="Text 8"/>
          <p:cNvSpPr/>
          <p:nvPr/>
        </p:nvSpPr>
        <p:spPr>
          <a:xfrm>
            <a:off x="4038972" y="2275061"/>
            <a:ext cx="4613597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LXI B, 0000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38972" y="2562820"/>
            <a:ext cx="4613597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Initialises BC to zero — BC accumulates quotient (INX B increments low byte, with carry into high byte).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78312" y="3180904"/>
            <a:ext cx="59754" cy="59754"/>
          </a:xfrm>
          <a:prstGeom prst="ellipse">
            <a:avLst/>
          </a:prstGeom>
          <a:solidFill>
            <a:srgbClr val="4950BC"/>
          </a:solidFill>
        </p:spPr>
      </p:sp>
      <p:sp>
        <p:nvSpPr>
          <p:cNvPr id="14" name="Text 11"/>
          <p:cNvSpPr/>
          <p:nvPr/>
        </p:nvSpPr>
        <p:spPr>
          <a:xfrm>
            <a:off x="4038972" y="3117354"/>
            <a:ext cx="4613597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Compare and Borrow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38972" y="3405113"/>
            <a:ext cx="4613597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CMP and JC decide if dividend &lt; divisor. SUB and SBB perform correct 16-bit subtraction using borrow from low to high byte.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878312" y="4023196"/>
            <a:ext cx="59754" cy="59754"/>
          </a:xfrm>
          <a:prstGeom prst="ellipse">
            <a:avLst/>
          </a:prstGeom>
          <a:solidFill>
            <a:srgbClr val="4950BC"/>
          </a:solidFill>
        </p:spPr>
      </p:sp>
      <p:sp>
        <p:nvSpPr>
          <p:cNvPr id="17" name="Text 14"/>
          <p:cNvSpPr/>
          <p:nvPr/>
        </p:nvSpPr>
        <p:spPr>
          <a:xfrm>
            <a:off x="4038972" y="3959647"/>
            <a:ext cx="4613597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INX B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038972" y="4247406"/>
            <a:ext cx="4613597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Increments BC after each successful subtraction; BC becomes the 16-bit quotient.</a:t>
            </a:r>
            <a:endParaRPr lang="en-US" sz="900" dirty="0"/>
          </a:p>
        </p:txBody>
      </p:sp>
      <p:sp>
        <p:nvSpPr>
          <p:cNvPr id="19" name="Rectangle 18"/>
          <p:cNvSpPr/>
          <p:nvPr/>
        </p:nvSpPr>
        <p:spPr>
          <a:xfrm>
            <a:off x="6718935" y="4753610"/>
            <a:ext cx="2412365" cy="3892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73981"/>
            <a:ext cx="4722763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Worked Example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940942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Example inputs: Dividend = 20 (0020H), Divisor = 5 (0005H).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327225"/>
            <a:ext cx="472276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20 − 5 = 15 → Quotient = 1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15 − 5 = 10 → Quotient = 2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10 − 5 = 5  → Quotient = 3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5  − 5 = 0  → Quotient = 4, Remainder = 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542630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Final result: Quotient = 0004H, Remainder = 0000H.</a:t>
            </a:r>
            <a:endParaRPr lang="en-US" sz="1100" dirty="0"/>
          </a:p>
        </p:txBody>
      </p:sp>
      <p:sp>
        <p:nvSpPr>
          <p:cNvPr id="7" name="Rectangle 6"/>
          <p:cNvSpPr/>
          <p:nvPr/>
        </p:nvSpPr>
        <p:spPr>
          <a:xfrm>
            <a:off x="7907655" y="4768850"/>
            <a:ext cx="1196975" cy="374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74068"/>
            <a:ext cx="3902943" cy="2195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622771"/>
            <a:ext cx="3902943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Output &amp; Next Steps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1118890"/>
            <a:ext cx="436014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Output for example: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1473250"/>
            <a:ext cx="390294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Dividend = 0020H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Divisor  = 0005H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Quotient = 0004H (stored in BC)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Remainder = 0000H (stored in HL)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88654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DADBF1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903711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51621"/>
            <a:ext cx="330048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Try different inputs (including edge cases: divisor = 0001H, divisor &gt; dividend, and maximum 16-bit values) and test behaviour.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749701" y="3854500"/>
            <a:ext cx="390294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Extensions: implement signed division, optimise using shift-subtract (non-restoring) method, or add runtime I/O to read operands from memory or port.</a:t>
            </a:r>
            <a:endParaRPr lang="en-US" sz="1100" dirty="0"/>
          </a:p>
        </p:txBody>
      </p:sp>
      <p:sp>
        <p:nvSpPr>
          <p:cNvPr id="10" name="Rectangle 9"/>
          <p:cNvSpPr/>
          <p:nvPr/>
        </p:nvSpPr>
        <p:spPr>
          <a:xfrm>
            <a:off x="7870825" y="4730115"/>
            <a:ext cx="1238885" cy="3581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4183</Words>
  <Application>WPS Presentation</Application>
  <PresentationFormat>On-screen Show 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Inter Bold</vt:lpstr>
      <vt:lpstr>Inter Bold</vt:lpstr>
      <vt:lpstr>Inter Bold</vt:lpstr>
      <vt:lpstr>Inter</vt:lpstr>
      <vt:lpstr>Inter</vt:lpstr>
      <vt:lpstr>Inter</vt:lpstr>
      <vt:lpstr>Consolas</vt:lpstr>
      <vt:lpstr>Consolas</vt:lpstr>
      <vt:lpstr>Consolas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Dhanusri</cp:lastModifiedBy>
  <cp:revision>2</cp:revision>
  <dcterms:created xsi:type="dcterms:W3CDTF">2026-08-03T03:50:00Z</dcterms:created>
  <dcterms:modified xsi:type="dcterms:W3CDTF">2026-08-03T03:56:48Z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32C0B85EBC0B40298F438B7A3D595EF3_13</vt:lpwstr>
  </property>
</Properties>
</file>